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31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669280"/>
            <a:ext cx="347461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Sample Corp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090" y="1463040"/>
            <a:ext cx="661396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spc="200" kern="0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PORTFOLIO · Backend Engineer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090" y="1920240"/>
            <a:ext cx="6613965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서류 한 장이 신뢰할 수 있는 데이터가 되기까지,</a:t>
            </a:r>
            <a:endParaRPr lang="en-US" sz="3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끝까지 책임지는 백엔드 개발자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090" y="3977640"/>
            <a:ext cx="661396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데이터 파이프라인 · Kubernetes 플랫폼 · Spring Boot 백엔드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090" y="5486400"/>
            <a:ext cx="6613965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이동형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github.com/donghoong2  ·  2026.10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100" kern="0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ABOUT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457200" cy="64008"/>
          </a:xfrm>
          <a:prstGeom prst="rect">
            <a:avLst/>
          </a:prstGeom>
          <a:solidFill>
            <a:srgbClr val="31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약속을 끝까지 책임지는 Backend 개발자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이동형 · Portfolio for Sample Corp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577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이동형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577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Backend Engineer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5577840" cy="11963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맡은 일을 신뢰할 수 있는 결과로 완성하는 것이 약속이라고 생각합니다. 기능 구현을 넘어 구조와 안정성까지 고민하며, 사용자에게 실제로 도움이 되는 기능을 안정적으로 구현해 왔습니다.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85260"/>
            <a:ext cx="674370" cy="292608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85260"/>
            <a:ext cx="6743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책임감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296162" y="3985260"/>
            <a:ext cx="1149096" cy="292608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6162" y="3985260"/>
            <a:ext cx="1149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정합성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18410" y="3985260"/>
            <a:ext cx="1223772" cy="292608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2518410" y="3985260"/>
            <a:ext cx="12237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기반 개선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15334" y="398526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3815334" y="398526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GitOps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1600200"/>
            <a:ext cx="11887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1600200"/>
            <a:ext cx="387065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서강대학교 국어국문·컴퓨터공학 (2021~)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1965960"/>
            <a:ext cx="387065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AI·SW마에스트로 17기, 멋쟁이사자처럼 13기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2331720"/>
            <a:ext cx="11887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2331720"/>
            <a:ext cx="387065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github.com/donghoong2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2880360"/>
            <a:ext cx="5059375" cy="972312"/>
          </a:xfrm>
          <a:prstGeom prst="roundRect">
            <a:avLst>
              <a:gd name="adj" fmla="val 11285"/>
            </a:avLst>
          </a:prstGeom>
          <a:solidFill>
            <a:srgbClr val="F2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2971800"/>
            <a:ext cx="469361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Backend Development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0" y="3291840"/>
            <a:ext cx="4693615" cy="515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Spring Boot REST API, OAuth2/JWT, JPA, 실시간 채팅 및 비동기 처리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3962400"/>
            <a:ext cx="5059375" cy="972312"/>
          </a:xfrm>
          <a:prstGeom prst="roundRect">
            <a:avLst>
              <a:gd name="adj" fmla="val 11285"/>
            </a:avLst>
          </a:prstGeom>
          <a:solidFill>
            <a:srgbClr val="F2F4F6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4053840"/>
            <a:ext cx="469361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Cloud &amp; DevOps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4373880"/>
            <a:ext cx="4693615" cy="515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AWS, Kubernetes, Argo CD GitOps, Prometheus·Grafana 관측성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5044440"/>
            <a:ext cx="5059375" cy="972312"/>
          </a:xfrm>
          <a:prstGeom prst="roundRect">
            <a:avLst>
              <a:gd name="adj" fmla="val 11285"/>
            </a:avLst>
          </a:prstGeom>
          <a:solidFill>
            <a:srgbClr val="F2F4F6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5135880"/>
            <a:ext cx="469361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&amp; Data Engineering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66560" y="5455920"/>
            <a:ext cx="4693615" cy="515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OCR·VLM 문서 분석, 약관 청킹·임베딩, pgvector 하이브리드 검색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100" kern="0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ME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457200" cy="64008"/>
          </a:xfrm>
          <a:prstGeom prst="rect">
            <a:avLst/>
          </a:prstGeom>
          <a:solidFill>
            <a:srgbClr val="31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인재상 × 나의 경험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이동형 · Portfolio for Sample Corp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32908" cy="2171700"/>
          </a:xfrm>
          <a:prstGeom prst="roundRect">
            <a:avLst>
              <a:gd name="adj" fmla="val 5053"/>
            </a:avLst>
          </a:prstGeom>
          <a:solidFill>
            <a:srgbClr val="F2F4F6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783080"/>
            <a:ext cx="73152" cy="457200"/>
          </a:xfrm>
          <a:prstGeom prst="rect">
            <a:avLst/>
          </a:prstGeom>
          <a:solidFill>
            <a:srgbClr val="3182F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37360"/>
            <a:ext cx="4975708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주도성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167128"/>
            <a:ext cx="4975708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문제를 스스로 정의하고 끝까지 해결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4975708" cy="10287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청구가 '처리 중'에 조용히 멈추는 문제를 직접 발견하고 청구 단위 fan-in과 재업로드 통지로 무음 정지 경로를 제거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0148" y="1600200"/>
            <a:ext cx="5432908" cy="2171700"/>
          </a:xfrm>
          <a:prstGeom prst="roundRect">
            <a:avLst>
              <a:gd name="adj" fmla="val 5053"/>
            </a:avLst>
          </a:prstGeom>
          <a:solidFill>
            <a:srgbClr val="F2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0148" y="1783080"/>
            <a:ext cx="73152" cy="457200"/>
          </a:xfrm>
          <a:prstGeom prst="rect">
            <a:avLst/>
          </a:prstGeom>
          <a:solidFill>
            <a:srgbClr val="31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84468" y="1737360"/>
            <a:ext cx="4975708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기반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84468" y="2167128"/>
            <a:ext cx="4975708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측정하고 개선한다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84468" y="2606040"/>
            <a:ext cx="4975708" cy="10287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약관 ETL을 단계별로 분리·측정해 병목을 찾고 VLM 동시 호출로 296쪽 문서 처리 시간 −42.2%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000500"/>
            <a:ext cx="5432908" cy="2171700"/>
          </a:xfrm>
          <a:prstGeom prst="roundRect">
            <a:avLst>
              <a:gd name="adj" fmla="val 5053"/>
            </a:avLst>
          </a:prstGeom>
          <a:solidFill>
            <a:srgbClr val="F2F4F6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183380"/>
            <a:ext cx="73152" cy="457200"/>
          </a:xfrm>
          <a:prstGeom prst="rect">
            <a:avLst/>
          </a:prstGeom>
          <a:solidFill>
            <a:srgbClr val="31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37660"/>
            <a:ext cx="4975708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567428"/>
            <a:ext cx="4975708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안정적인 시스템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5006340"/>
            <a:ext cx="4975708" cy="10287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DB·Redis dual-write를 트랜잭셔널 아웃박스로 해결, k6 100 RPS 10분 실패율 0%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0148" y="4000500"/>
            <a:ext cx="5432908" cy="2171700"/>
          </a:xfrm>
          <a:prstGeom prst="roundRect">
            <a:avLst>
              <a:gd name="adj" fmla="val 5053"/>
            </a:avLst>
          </a:prstGeom>
          <a:solidFill>
            <a:srgbClr val="F2F4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0148" y="4183380"/>
            <a:ext cx="73152" cy="457200"/>
          </a:xfrm>
          <a:prstGeom prst="rect">
            <a:avLst/>
          </a:prstGeom>
          <a:solidFill>
            <a:srgbClr val="31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484468" y="4137660"/>
            <a:ext cx="4975708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협업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84468" y="4567428"/>
            <a:ext cx="4975708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함께 성장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84468" y="5006340"/>
            <a:ext cx="4975708" cy="10287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 청킹 파이프라인의 초기 구조와 스키마를 설계해 팀 기반으로 채택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100" kern="0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JOB FIT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457200" cy="64008"/>
          </a:xfrm>
          <a:prstGeom prst="rect">
            <a:avLst/>
          </a:prstGeom>
          <a:solidFill>
            <a:srgbClr val="31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지원자격·우대사항 매칭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이동형 · Portfolio for Sample Corp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108960"/>
                <a:gridCol w="5212080"/>
                <a:gridCol w="195041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구분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요구 역량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나의 근거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관련 경험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2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182F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필수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F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Java/Spring 기반 서버 개발 경험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F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Spring Boot·Security·JPA로 OAuth2/JWT 인증, 실시간 채팅(STOMP+Redis) 구현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5A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바른보상, 화리보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182F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필수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F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RDBMS 설계 및 활용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F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PostgreSQL 청크 스키마·인덱스(tsvector, trigram, halfvec) 설계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5A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바른보상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445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우대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F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Kubernetes 운영 경험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F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kubeadm 클러스터 구축, Argo CD GitOps 전환(재시작 0회)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5A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바른보상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445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우대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F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대용량 트래픽/성능 개선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F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k6 100 RPS 부하테스트, 포토리뷰 조회 성능 개선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5A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바른보상, 화리보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109441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바른보상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18001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기반 보험금 청구 지원 및 손해사정사 매칭 플랫폼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5029200"/>
            <a:ext cx="14478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029200"/>
            <a:ext cx="144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SW마에스트로 17기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52472" y="5029200"/>
            <a:ext cx="154381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252472" y="5029200"/>
            <a:ext cx="15438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2026.05 ~ 2026.11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100" kern="0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PROJECT 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457200" cy="64008"/>
          </a:xfrm>
          <a:prstGeom prst="rect">
            <a:avLst/>
          </a:prstGeom>
          <a:solidFill>
            <a:srgbClr val="31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바른보상 — 서류가 AI 리포트의 근거가 되기까지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이동형 · Portfolio for Sample Corp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55320" cy="292608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655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주도성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77112" y="1600200"/>
            <a:ext cx="980440" cy="292608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277112" y="1600200"/>
            <a:ext cx="98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기반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51206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사용자가 올린 진단서·보험증권을 OCR·PII 마스킹·약관 검색으로 처리해 AI 보상 분석 초안을 만들고, 손해사정사가 검수하는 B2B2C 플랫폼입니다.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914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3520440"/>
            <a:ext cx="4206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2026.05 ~ 2026.11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849624"/>
            <a:ext cx="914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 구성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3849624"/>
            <a:ext cx="4206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 1 · BE 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178808"/>
            <a:ext cx="914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4178808"/>
            <a:ext cx="4206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백엔드·OCR/약관 ETL 파이프라인, K8s·GitOps, 관측성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645152"/>
            <a:ext cx="558800" cy="292608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645152"/>
            <a:ext cx="55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Java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80592" y="4645152"/>
            <a:ext cx="701040" cy="292608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1180592" y="4645152"/>
            <a:ext cx="70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Python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54784" y="4645152"/>
            <a:ext cx="1056640" cy="292608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1954784" y="4645152"/>
            <a:ext cx="105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Spring Boot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84576" y="4645152"/>
            <a:ext cx="985520" cy="292608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3084576" y="4645152"/>
            <a:ext cx="98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43248" y="4645152"/>
            <a:ext cx="843280" cy="292608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4143248" y="4645152"/>
            <a:ext cx="84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pgvector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010912"/>
            <a:ext cx="629920" cy="292608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010912"/>
            <a:ext cx="62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Redis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251712" y="5010912"/>
            <a:ext cx="487680" cy="292608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/>
        </p:spPr>
      </p:sp>
      <p:sp>
        <p:nvSpPr>
          <p:cNvPr id="31" name="Text 29"/>
          <p:cNvSpPr/>
          <p:nvPr/>
        </p:nvSpPr>
        <p:spPr>
          <a:xfrm>
            <a:off x="1251712" y="5010912"/>
            <a:ext cx="48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SQS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12544" y="5010912"/>
            <a:ext cx="985520" cy="292608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/>
        </p:spPr>
      </p:sp>
      <p:sp>
        <p:nvSpPr>
          <p:cNvPr id="33" name="Text 31"/>
          <p:cNvSpPr/>
          <p:nvPr/>
        </p:nvSpPr>
        <p:spPr>
          <a:xfrm>
            <a:off x="1812544" y="5010912"/>
            <a:ext cx="98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Kubernetes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871216" y="5010912"/>
            <a:ext cx="772160" cy="292608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/>
        </p:spPr>
      </p:sp>
      <p:sp>
        <p:nvSpPr>
          <p:cNvPr id="35" name="Text 33"/>
          <p:cNvSpPr/>
          <p:nvPr/>
        </p:nvSpPr>
        <p:spPr>
          <a:xfrm>
            <a:off x="2871216" y="5010912"/>
            <a:ext cx="77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Argo CD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716528" y="5010912"/>
            <a:ext cx="416560" cy="292608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/>
        </p:spPr>
      </p:sp>
      <p:sp>
        <p:nvSpPr>
          <p:cNvPr id="37" name="Text 35"/>
          <p:cNvSpPr/>
          <p:nvPr/>
        </p:nvSpPr>
        <p:spPr>
          <a:xfrm>
            <a:off x="3716528" y="5010912"/>
            <a:ext cx="41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80760" y="1600200"/>
            <a:ext cx="1744370" cy="1234440"/>
          </a:xfrm>
          <a:prstGeom prst="roundRect">
            <a:avLst>
              <a:gd name="adj" fmla="val 8889"/>
            </a:avLst>
          </a:prstGeom>
          <a:solidFill>
            <a:srgbClr val="31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6172200" y="1709928"/>
            <a:ext cx="156149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0→9/9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172200" y="2350008"/>
            <a:ext cx="156149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OCR 실환경 E2E 저장 성공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989722" y="1600200"/>
            <a:ext cx="1744370" cy="1234440"/>
          </a:xfrm>
          <a:prstGeom prst="roundRect">
            <a:avLst>
              <a:gd name="adj" fmla="val 8889"/>
            </a:avLst>
          </a:prstGeom>
          <a:solidFill>
            <a:srgbClr val="31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8081162" y="1709928"/>
            <a:ext cx="156149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−42.2%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8081162" y="2350008"/>
            <a:ext cx="156149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약관 ETL 처리 시간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898685" y="1600200"/>
            <a:ext cx="1744370" cy="1234440"/>
          </a:xfrm>
          <a:prstGeom prst="roundRect">
            <a:avLst>
              <a:gd name="adj" fmla="val 8889"/>
            </a:avLst>
          </a:prstGeom>
          <a:solidFill>
            <a:srgbClr val="31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9990125" y="1709928"/>
            <a:ext cx="156149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0.894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9990125" y="2350008"/>
            <a:ext cx="156149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RAG Recall@5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080760" y="3063240"/>
            <a:ext cx="556229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담당 및 기여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080760" y="3447288"/>
            <a:ext cx="5562295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SQS 기반 13단계 OCR 파이프라인 (surya + VLM 하이브리드)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정규식 + 한국어 NER 기반 PII 마스킹, fail-closed 잔류 검사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약관 청킹·임베딩 파이프라인 초기 구조 설계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kubeadm 클러스터 + Argo CD GitOps 전환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100" kern="0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TROUBLESHOOTING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457200" cy="64008"/>
          </a:xfrm>
          <a:prstGeom prst="rect">
            <a:avLst/>
          </a:prstGeom>
          <a:solidFill>
            <a:srgbClr val="31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약관 ETL 적재가 250일 걸리던 문제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이동형 · Portfolio for Sample Corp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980440" cy="292608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98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기반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423818" cy="3031236"/>
          </a:xfrm>
          <a:prstGeom prst="roundRect">
            <a:avLst>
              <a:gd name="adj" fmla="val 3620"/>
            </a:avLst>
          </a:prstGeom>
          <a:solidFill>
            <a:srgbClr val="F2F4F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94560"/>
            <a:ext cx="296661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2966618" cy="22082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약관 적재에 추정 250일 소요</a:t>
            </a:r>
            <a:endParaRPr lang="en-US" sz="1500" dirty="0"/>
          </a:p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어느 단계가 병목인지 측정 없이 추측만 존재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63898" y="3390138"/>
            <a:ext cx="228600" cy="274320"/>
          </a:xfrm>
          <a:prstGeom prst="rightArrow">
            <a:avLst/>
          </a:prstGeom>
          <a:solidFill>
            <a:srgbClr val="8B95A1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3938" y="2011680"/>
            <a:ext cx="3423818" cy="3031236"/>
          </a:xfrm>
          <a:prstGeom prst="roundRect">
            <a:avLst>
              <a:gd name="adj" fmla="val 3620"/>
            </a:avLst>
          </a:prstGeom>
          <a:solidFill>
            <a:srgbClr val="F2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4612538" y="2194560"/>
            <a:ext cx="296661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2538" y="2651760"/>
            <a:ext cx="2966618" cy="22082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추출·파싱·임베딩 단계를 분리하고 단계별 시간 측정</a:t>
            </a:r>
            <a:endParaRPr lang="en-US" sz="1500" dirty="0"/>
          </a:p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VLM 호출이 병목임을 확인 후 동시 호출 도입</a:t>
            </a:r>
            <a:endParaRPr lang="en-US" sz="1500" dirty="0"/>
          </a:p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296쪽 기준 문서로 벤치마크 고정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899197" y="3390138"/>
            <a:ext cx="228600" cy="274320"/>
          </a:xfrm>
          <a:prstGeom prst="rightArrow">
            <a:avLst/>
          </a:prstGeom>
          <a:solidFill>
            <a:srgbClr val="8B95A1"/>
          </a:solidFill>
          <a:ln/>
        </p:spPr>
      </p:sp>
      <p:sp>
        <p:nvSpPr>
          <p:cNvPr id="17" name="Shape 15"/>
          <p:cNvSpPr/>
          <p:nvPr/>
        </p:nvSpPr>
        <p:spPr>
          <a:xfrm>
            <a:off x="8219237" y="2011680"/>
            <a:ext cx="3423818" cy="3031236"/>
          </a:xfrm>
          <a:prstGeom prst="roundRect">
            <a:avLst>
              <a:gd name="adj" fmla="val 3620"/>
            </a:avLst>
          </a:prstGeom>
          <a:solidFill>
            <a:srgbClr val="31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447837" y="2194560"/>
            <a:ext cx="296661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47837" y="2651760"/>
            <a:ext cx="2966618" cy="22082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처리 시간 52.6분 → 30.4분 (−42.2%)</a:t>
            </a:r>
            <a:endParaRPr lang="en-US" sz="1500" dirty="0"/>
          </a:p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 청킹 파이프라인의 기반으로 채택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100" kern="0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457200" cy="64008"/>
          </a:xfrm>
          <a:prstGeom prst="rect">
            <a:avLst/>
          </a:prstGeom>
          <a:solidFill>
            <a:srgbClr val="31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시스템 아키텍처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이동형 · Portfolio for Sample Corp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828800" cy="704088"/>
          </a:xfrm>
          <a:prstGeom prst="roundRect">
            <a:avLst>
              <a:gd name="adj" fmla="val 15584"/>
            </a:avLst>
          </a:prstGeom>
          <a:solidFill>
            <a:srgbClr val="31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1645920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Client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600200"/>
            <a:ext cx="4486504" cy="704088"/>
          </a:xfrm>
          <a:prstGeom prst="roundRect">
            <a:avLst>
              <a:gd name="adj" fmla="val 15584"/>
            </a:avLst>
          </a:prstGeom>
          <a:solidFill>
            <a:srgbClr val="F2F4F6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600200"/>
            <a:ext cx="4395064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Web / App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56552" y="1600200"/>
            <a:ext cx="4486504" cy="704088"/>
          </a:xfrm>
          <a:prstGeom prst="roundRect">
            <a:avLst>
              <a:gd name="adj" fmla="val 15584"/>
            </a:avLst>
          </a:prstGeom>
          <a:solidFill>
            <a:srgbClr val="F2F4F6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2272" y="1600200"/>
            <a:ext cx="4395064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손해사정사 콘솔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441448"/>
            <a:ext cx="1828800" cy="704088"/>
          </a:xfrm>
          <a:prstGeom prst="roundRect">
            <a:avLst>
              <a:gd name="adj" fmla="val 15584"/>
            </a:avLst>
          </a:prstGeom>
          <a:solidFill>
            <a:srgbClr val="31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41448"/>
            <a:ext cx="1645920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Backend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2441448"/>
            <a:ext cx="2954426" cy="704088"/>
          </a:xfrm>
          <a:prstGeom prst="roundRect">
            <a:avLst>
              <a:gd name="adj" fmla="val 15584"/>
            </a:avLst>
          </a:prstGeom>
          <a:solidFill>
            <a:srgbClr val="F2F4F6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441448"/>
            <a:ext cx="2862986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Spring Boot API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24474" y="2441448"/>
            <a:ext cx="2954426" cy="704088"/>
          </a:xfrm>
          <a:prstGeom prst="roundRect">
            <a:avLst>
              <a:gd name="adj" fmla="val 15584"/>
            </a:avLst>
          </a:prstGeom>
          <a:solidFill>
            <a:srgbClr val="F2F4F6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70194" y="2441448"/>
            <a:ext cx="2862986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STOMP Chat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8629" y="2441448"/>
            <a:ext cx="2954426" cy="704088"/>
          </a:xfrm>
          <a:prstGeom prst="roundRect">
            <a:avLst>
              <a:gd name="adj" fmla="val 15584"/>
            </a:avLst>
          </a:prstGeom>
          <a:solidFill>
            <a:srgbClr val="F2F4F6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4349" y="2441448"/>
            <a:ext cx="2862986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Auth (OAuth2/JWT)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282696"/>
            <a:ext cx="1828800" cy="704088"/>
          </a:xfrm>
          <a:prstGeom prst="roundRect">
            <a:avLst>
              <a:gd name="adj" fmla="val 15584"/>
            </a:avLst>
          </a:prstGeom>
          <a:solidFill>
            <a:srgbClr val="31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82696"/>
            <a:ext cx="1645920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Async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0" y="3282696"/>
            <a:ext cx="2954426" cy="704088"/>
          </a:xfrm>
          <a:prstGeom prst="roundRect">
            <a:avLst>
              <a:gd name="adj" fmla="val 15584"/>
            </a:avLst>
          </a:prstGeom>
          <a:solidFill>
            <a:srgbClr val="F2F4F6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3282696"/>
            <a:ext cx="2862986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Amazon SQS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24474" y="3282696"/>
            <a:ext cx="2954426" cy="704088"/>
          </a:xfrm>
          <a:prstGeom prst="roundRect">
            <a:avLst>
              <a:gd name="adj" fmla="val 15584"/>
            </a:avLst>
          </a:prstGeom>
          <a:solidFill>
            <a:srgbClr val="F2F4F6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70194" y="3282696"/>
            <a:ext cx="2862986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OCR Worker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88629" y="3282696"/>
            <a:ext cx="2954426" cy="704088"/>
          </a:xfrm>
          <a:prstGeom prst="roundRect">
            <a:avLst>
              <a:gd name="adj" fmla="val 15584"/>
            </a:avLst>
          </a:prstGeom>
          <a:solidFill>
            <a:srgbClr val="F2F4F6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4349" y="3282696"/>
            <a:ext cx="2862986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Report Worker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123944"/>
            <a:ext cx="1828800" cy="704088"/>
          </a:xfrm>
          <a:prstGeom prst="roundRect">
            <a:avLst>
              <a:gd name="adj" fmla="val 15584"/>
            </a:avLst>
          </a:prstGeom>
          <a:solidFill>
            <a:srgbClr val="31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123944"/>
            <a:ext cx="1645920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Data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60320" y="4123944"/>
            <a:ext cx="2954426" cy="704088"/>
          </a:xfrm>
          <a:prstGeom prst="roundRect">
            <a:avLst>
              <a:gd name="adj" fmla="val 15584"/>
            </a:avLst>
          </a:prstGeom>
          <a:solidFill>
            <a:srgbClr val="F2F4F6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4123944"/>
            <a:ext cx="2862986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PostgreSQL + pgvector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24474" y="4123944"/>
            <a:ext cx="2954426" cy="704088"/>
          </a:xfrm>
          <a:prstGeom prst="roundRect">
            <a:avLst>
              <a:gd name="adj" fmla="val 15584"/>
            </a:avLst>
          </a:prstGeom>
          <a:solidFill>
            <a:srgbClr val="F2F4F6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70194" y="4123944"/>
            <a:ext cx="2862986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Redis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688629" y="4123944"/>
            <a:ext cx="2954426" cy="704088"/>
          </a:xfrm>
          <a:prstGeom prst="roundRect">
            <a:avLst>
              <a:gd name="adj" fmla="val 15584"/>
            </a:avLst>
          </a:prstGeom>
          <a:solidFill>
            <a:srgbClr val="F2F4F6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4349" y="4123944"/>
            <a:ext cx="2862986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965192"/>
            <a:ext cx="1828800" cy="704088"/>
          </a:xfrm>
          <a:prstGeom prst="roundRect">
            <a:avLst>
              <a:gd name="adj" fmla="val 15584"/>
            </a:avLst>
          </a:prstGeom>
          <a:solidFill>
            <a:srgbClr val="31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965192"/>
            <a:ext cx="1645920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Platform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560320" y="4965192"/>
            <a:ext cx="2954426" cy="704088"/>
          </a:xfrm>
          <a:prstGeom prst="roundRect">
            <a:avLst>
              <a:gd name="adj" fmla="val 15584"/>
            </a:avLst>
          </a:prstGeom>
          <a:solidFill>
            <a:srgbClr val="F2F4F6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06040" y="4965192"/>
            <a:ext cx="2862986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624474" y="4965192"/>
            <a:ext cx="2954426" cy="704088"/>
          </a:xfrm>
          <a:prstGeom prst="roundRect">
            <a:avLst>
              <a:gd name="adj" fmla="val 15584"/>
            </a:avLst>
          </a:prstGeom>
          <a:solidFill>
            <a:srgbClr val="F2F4F6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70194" y="4965192"/>
            <a:ext cx="2862986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Argo CD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688629" y="4965192"/>
            <a:ext cx="2954426" cy="704088"/>
          </a:xfrm>
          <a:prstGeom prst="roundRect">
            <a:avLst>
              <a:gd name="adj" fmla="val 15584"/>
            </a:avLst>
          </a:prstGeom>
          <a:solidFill>
            <a:srgbClr val="F2F4F6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34349" y="4965192"/>
            <a:ext cx="2862986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Prometheus·Grafana·Loki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SQS로 API와 AI 워커를 분리해 장애 전파를 차단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100" kern="0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457200" cy="64008"/>
          </a:xfrm>
          <a:prstGeom prst="rect">
            <a:avLst/>
          </a:prstGeom>
          <a:solidFill>
            <a:srgbClr val="31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대외활동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이동형 · Portfolio for Sample Corp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F2F4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173736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2026.03 ~ 2026.12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68880" y="1600200"/>
            <a:ext cx="310896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AI·SW마에스트로 17기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연수생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1600200"/>
            <a:ext cx="4144975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바른보상 프로젝트 백엔드·AI 파이프라인·인프라 담당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951415" y="1933956"/>
            <a:ext cx="636270" cy="292608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9951415" y="1933956"/>
            <a:ext cx="6362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주도성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F2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51760"/>
            <a:ext cx="173736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2025.01 ~ 2025.12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0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멋쟁이사자처럼 13기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백엔드 트랙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2651760"/>
            <a:ext cx="4144975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Spring·알고리즘 스터디, 해커톤·데모데이 참여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951415" y="2985516"/>
            <a:ext cx="515620" cy="292608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9951415" y="2985516"/>
            <a:ext cx="5156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협업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F2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03320"/>
            <a:ext cx="173736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2021.10 ~ 2021.11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68880" y="3703320"/>
            <a:ext cx="310896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대학생 교육 기부단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코딩 교육 멘토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0" y="3703320"/>
            <a:ext cx="4144975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초등학생 대상 엔트리 블록 코딩 수업 진행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951415" y="4037076"/>
            <a:ext cx="515620" cy="292608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9951415" y="4037076"/>
            <a:ext cx="5156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소통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100" kern="0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SKILLS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457200" cy="64008"/>
          </a:xfrm>
          <a:prstGeom prst="rect">
            <a:avLst/>
          </a:prstGeom>
          <a:solidFill>
            <a:srgbClr val="31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기술 스택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이동형 · Portfolio for Sample Corp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46624" cy="1664208"/>
          </a:xfrm>
          <a:prstGeom prst="roundRect">
            <a:avLst>
              <a:gd name="adj" fmla="val 6593"/>
            </a:avLst>
          </a:prstGeom>
          <a:solidFill>
            <a:srgbClr val="F2F4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5080864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60147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601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Java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406144" y="2194560"/>
            <a:ext cx="117398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406144" y="2194560"/>
            <a:ext cx="11739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Spring Boot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653284" y="2194560"/>
            <a:ext cx="15011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653284" y="2194560"/>
            <a:ext cx="15011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Spring Security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27576" y="2194560"/>
            <a:ext cx="5196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227576" y="2194560"/>
            <a:ext cx="5196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JPA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20412" y="2194560"/>
            <a:ext cx="76504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820412" y="2194560"/>
            <a:ext cx="765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OAuth2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2615184"/>
            <a:ext cx="5196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615184"/>
            <a:ext cx="5196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JWT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96432" y="1600200"/>
            <a:ext cx="5446624" cy="1664208"/>
          </a:xfrm>
          <a:prstGeom prst="roundRect">
            <a:avLst>
              <a:gd name="adj" fmla="val 6593"/>
            </a:avLst>
          </a:prstGeom>
          <a:solidFill>
            <a:srgbClr val="F2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6379312" y="1737360"/>
            <a:ext cx="5080864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Data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79312" y="2194560"/>
            <a:ext cx="10922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379312" y="2194560"/>
            <a:ext cx="109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544664" y="2194560"/>
            <a:ext cx="6832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544664" y="2194560"/>
            <a:ext cx="683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MySQL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301076" y="2194560"/>
            <a:ext cx="6832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301076" y="2194560"/>
            <a:ext cx="683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Redis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057488" y="2194560"/>
            <a:ext cx="92862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9057488" y="2194560"/>
            <a:ext cx="928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pgvector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3465576"/>
            <a:ext cx="5446624" cy="1664208"/>
          </a:xfrm>
          <a:prstGeom prst="roundRect">
            <a:avLst>
              <a:gd name="adj" fmla="val 6593"/>
            </a:avLst>
          </a:prstGeom>
          <a:solidFill>
            <a:srgbClr val="F2F4F6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602736"/>
            <a:ext cx="5080864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Infra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1520" y="4059936"/>
            <a:ext cx="5196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059936"/>
            <a:ext cx="5196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AWS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24356" y="4059936"/>
            <a:ext cx="76504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324356" y="4059936"/>
            <a:ext cx="765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Docker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162556" y="4059936"/>
            <a:ext cx="10922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2162556" y="4059936"/>
            <a:ext cx="109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Kubernetes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327908" y="4059936"/>
            <a:ext cx="84683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3327908" y="4059936"/>
            <a:ext cx="8468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Argo CD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247896" y="4059936"/>
            <a:ext cx="141935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247896" y="4059936"/>
            <a:ext cx="141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 Actions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196432" y="3465576"/>
            <a:ext cx="5446624" cy="1664208"/>
          </a:xfrm>
          <a:prstGeom prst="roundRect">
            <a:avLst>
              <a:gd name="adj" fmla="val 6593"/>
            </a:avLst>
          </a:prstGeom>
          <a:solidFill>
            <a:srgbClr val="F2F4F6"/>
          </a:solidFill>
          <a:ln/>
        </p:spPr>
      </p:sp>
      <p:sp>
        <p:nvSpPr>
          <p:cNvPr id="44" name="Text 42"/>
          <p:cNvSpPr/>
          <p:nvPr/>
        </p:nvSpPr>
        <p:spPr>
          <a:xfrm>
            <a:off x="6379312" y="3602736"/>
            <a:ext cx="5080864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1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379312" y="4059936"/>
            <a:ext cx="10922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379312" y="4059936"/>
            <a:ext cx="109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Prometheus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544664" y="4059936"/>
            <a:ext cx="84683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7544664" y="4059936"/>
            <a:ext cx="8468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Grafana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464652" y="4059936"/>
            <a:ext cx="60147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8464652" y="4059936"/>
            <a:ext cx="601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Loki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9139276" y="4059936"/>
            <a:ext cx="6832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9139276" y="4059936"/>
            <a:ext cx="683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Tempo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895688" y="4059936"/>
            <a:ext cx="43789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9895688" y="4059936"/>
            <a:ext cx="437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k6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728655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맡은 일을 신뢰할 수 있는 결과로,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끝까지 책임지겠습니다.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5394960"/>
            <a:ext cx="1109441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  github.com/donghoong2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Sample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이동형 포트폴리오</dc:title>
  <dc:subject>PptxGenJS Presentation</dc:subject>
  <dc:creator>이동형</dc:creator>
  <cp:lastModifiedBy>이동형</cp:lastModifiedBy>
  <cp:revision>1</cp:revision>
  <dcterms:created xsi:type="dcterms:W3CDTF">2026-10-28T07:40:56Z</dcterms:created>
  <dcterms:modified xsi:type="dcterms:W3CDTF">2026-10-28T07:40:56Z</dcterms:modified>
</cp:coreProperties>
</file>